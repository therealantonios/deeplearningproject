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77" r:id="rId4"/>
    <p:sldId id="280" r:id="rId5"/>
    <p:sldId id="258" r:id="rId6"/>
    <p:sldId id="282" r:id="rId7"/>
    <p:sldId id="281" r:id="rId8"/>
    <p:sldId id="283" r:id="rId9"/>
    <p:sldId id="284" r:id="rId10"/>
    <p:sldId id="285" r:id="rId11"/>
    <p:sldId id="259" r:id="rId12"/>
    <p:sldId id="286" r:id="rId13"/>
    <p:sldId id="287" r:id="rId14"/>
    <p:sldId id="291" r:id="rId15"/>
    <p:sldId id="288" r:id="rId16"/>
    <p:sldId id="289" r:id="rId17"/>
    <p:sldId id="290" r:id="rId18"/>
    <p:sldId id="292" r:id="rId19"/>
    <p:sldId id="276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B3AFB-EBD0-4935-916A-50A460E650E0}" type="datetimeFigureOut">
              <a:rPr lang="it-IT" smtClean="0"/>
              <a:t>30/10/2025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9C9E7-C02C-4FEF-B9C9-4E3296E105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60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9C9E7-C02C-4FEF-B9C9-4E3296E105C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1739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Gli obiettivi principali sono stati cinque.</a:t>
            </a:r>
          </a:p>
          <a:p>
            <a:r>
              <a:rPr lang="it-IT"/>
              <a:t>Primo, </a:t>
            </a:r>
            <a:r>
              <a:rPr lang="it-IT" b="1"/>
              <a:t>implementare un modello di Object Detection e Instance Segmentation</a:t>
            </a:r>
            <a:r>
              <a:rPr lang="it-IT"/>
              <a:t> sul dataset ModaNet.</a:t>
            </a:r>
            <a:br>
              <a:rPr lang="it-IT"/>
            </a:br>
            <a:r>
              <a:rPr lang="it-IT"/>
              <a:t>Secondo, </a:t>
            </a:r>
            <a:r>
              <a:rPr lang="it-IT" b="1"/>
              <a:t>pulire e correggere le annotazioni</a:t>
            </a:r>
            <a:r>
              <a:rPr lang="it-IT"/>
              <a:t>, in particolare per le classi </a:t>
            </a:r>
            <a:r>
              <a:rPr lang="it-IT" i="1"/>
              <a:t>footwear</a:t>
            </a:r>
            <a:r>
              <a:rPr lang="it-IT"/>
              <a:t> e </a:t>
            </a:r>
            <a:r>
              <a:rPr lang="it-IT" i="1"/>
              <a:t>boots</a:t>
            </a:r>
            <a:r>
              <a:rPr lang="it-IT"/>
              <a:t> che presentavano errori nel dataset originale.</a:t>
            </a:r>
            <a:br>
              <a:rPr lang="it-IT"/>
            </a:br>
            <a:r>
              <a:rPr lang="it-IT"/>
              <a:t>Terzo, </a:t>
            </a:r>
            <a:r>
              <a:rPr lang="it-IT" b="1"/>
              <a:t>addestrare da zero</a:t>
            </a:r>
            <a:r>
              <a:rPr lang="it-IT"/>
              <a:t> un modello Mask R-CNN personalizzato.</a:t>
            </a:r>
            <a:br>
              <a:rPr lang="it-IT"/>
            </a:br>
            <a:r>
              <a:rPr lang="it-IT"/>
              <a:t>Quarto, </a:t>
            </a:r>
            <a:r>
              <a:rPr lang="it-IT" b="1"/>
              <a:t>effettuare un ablation study</a:t>
            </a:r>
            <a:r>
              <a:rPr lang="it-IT"/>
              <a:t>, cioè una serie di esperimenti per capire come i parametri influenzano le prestazioni.</a:t>
            </a:r>
            <a:br>
              <a:rPr lang="it-IT"/>
            </a:br>
            <a:r>
              <a:rPr lang="it-IT"/>
              <a:t>E infine, </a:t>
            </a:r>
            <a:r>
              <a:rPr lang="it-IT" b="1"/>
              <a:t>confrontare i risultati</a:t>
            </a:r>
            <a:r>
              <a:rPr lang="it-IT"/>
              <a:t> tra modelli allenati con dataset originale e con dataset corretto, sempre gestendo tutto sull’HPC per motivi di tempo e di risorse.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9C9E7-C02C-4FEF-B9C9-4E3296E105C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3222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47EB201C-4CEC-418B-B040-3DCA348210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590" y="91573"/>
            <a:ext cx="6358819" cy="632877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3876D12-E34F-45DF-85C0-67A27765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BDFE76-37E3-4CD5-881B-F00728345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564AA1-47BD-4168-B60E-F408AE66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D044-11AB-4EEF-8D0D-FBFF5B83D46D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11AAEA-05C5-4F32-9F74-07B59EFB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E53661-5AE1-4D95-9622-305F3083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260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A9EAD-EF6E-4D54-B98D-F7488B3F7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D2F1CF-F63E-4292-9F08-5B7CEED6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44CE7C-D38F-4AE2-A3AD-C68DD3497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0EE844A0-2D67-4F0C-A554-C22AD3903FE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6398A0-7632-489B-BF01-DEADD703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96A23F-D120-41F2-9A42-4223FE60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949E4C5-7694-4B54-95E5-5D3CA99893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433" y="6241329"/>
            <a:ext cx="617134" cy="61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5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40A0DD-D5CA-493D-8A1E-ACF4FB59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0E2AC0-A4B4-4355-8089-722B4BC09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2C805F-A014-485E-B4C9-360A9FA2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BE2-B51B-4A7D-8DCB-63A42BA0F6D9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8D2E27-9664-4376-BFD6-BDD528A4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2E158B-F799-4CFD-82A7-223A5A48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0233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E636B9-1E13-4082-A5C8-0F068677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45946E-55F1-496B-86B8-D27AA7851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E9CF10E-1C61-4F11-8732-F18851B36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4D181E-366E-46FD-BE8A-4EA5FFD2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B978-236A-4581-8999-ACC7C6BFFF6F}" type="datetime1">
              <a:rPr lang="it-IT" smtClean="0"/>
              <a:t>30/10/2025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AF8E5F-8D99-4001-92C9-AEB72D2E4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9FD8D44-A8A5-4D62-BB24-B564FA22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548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54D735-A017-43FF-8DA3-7694AACE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535E9E-CF70-4445-9535-ECB7B7625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DEF026-E517-4A8D-B5A4-AE0A4B1AB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1FF4787-D4E8-4BEA-AC7E-7644B6BB7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3BA81C0-B40D-4D0D-9BB3-0C7D1AD3D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7AF0FE1-2119-44C4-B5D9-2E56C646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A010-12A1-4324-B6F0-3759522E2455}" type="datetime1">
              <a:rPr lang="it-IT" smtClean="0"/>
              <a:t>30/10/2025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E500327-6582-4FAC-AE48-F5E36EC2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EA66D82-11D2-4FA8-8A55-F2D8A8BD4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0590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CE8425-F5FF-4D53-BAC0-40354805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1ADE4E-EB2B-461A-9FA7-24465DCEC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3792-1675-43E4-91AD-51DB10C83B67}" type="datetime1">
              <a:rPr lang="it-IT" smtClean="0"/>
              <a:t>30/10/2025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441F798-B607-44D2-BD9E-070F627C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CE29C28-AA41-4C6A-B9AB-59500E6A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43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7F04164-4D8C-456B-81CE-C8D29A0B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DC3C-E244-4A9F-ABC6-18A832F4B51D}" type="datetime1">
              <a:rPr lang="it-IT" smtClean="0"/>
              <a:t>30/10/2025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75E710F-D1F6-4E1A-9D05-997D4612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370D10-74FC-4407-9DBA-08548100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348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DDB60A-6EA9-48DD-82DF-0525D676A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3E82D4-27F1-4E73-9EBA-13981D060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EA2A8C3-41E4-4631-BB94-12AA70310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3BE8A8B-6193-411F-A507-88F60DB2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0613A-66D0-4DD6-8EF2-14D15C4B563F}" type="datetime1">
              <a:rPr lang="it-IT" smtClean="0"/>
              <a:t>30/10/2025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9B5B8-C21A-4814-A05A-419CA91C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5B265DB-3891-4934-BA9E-3E97BC51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026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3D0220-21AA-402F-BC69-467B985C9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FF16C94-EB3A-437B-97B4-A41E0EA49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7E16F68-CF73-46DC-B129-509FCFB31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1E49AE-AA97-4094-8A9E-AE52FE53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467F1-916E-4461-8CEC-62405257FCB1}" type="datetime1">
              <a:rPr lang="it-IT" smtClean="0"/>
              <a:t>30/10/2025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3A0AA03-D140-4BA4-AB83-6D1D468F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53504-BA37-41CF-8A70-650D880E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9493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806872-CA12-44EA-AA0F-7045D503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AAFF2AB-8CB2-4AFF-8BED-02E8A51D1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D7FD92-4FEC-4578-9130-F01D32EA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CEE0-B92A-4115-A601-460C600B5957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0572DD-8CCE-419A-95B5-6B12A302C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C0ED5C-C9A3-4133-9D4E-6F3C138F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36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A831DB4-E986-4496-9E9F-E9FB6C7CB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211FE69-13A9-4E81-A272-BBB129370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7F879E-F66F-48E5-8ECD-B2E42580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0E61C-2EB2-49EF-AF80-3B43D17C396E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E34028-6F04-4728-A6B6-D2FF3F44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63E2BB-BA40-4A78-B3D2-75AD1BEA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00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B4C368A-0D00-4776-8E84-F0A96E6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E61B9D-630E-41D2-BB35-04F7EEE32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B36C75-BF7F-424D-A20A-BA5ECC6AD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00714822-4579-4F2C-A157-960422DCD482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39A849-E813-4F81-906B-C010D8D1A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80C162-422D-4D90-9C32-E3DB86CCF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B0E7FD5B-77DF-497D-B1E1-D726720F45FE}" type="slidenum">
              <a:rPr lang="it-IT" smtClean="0"/>
              <a:t>‹N›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3C76C27-AC9D-40A7-87A3-1C9C01200B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847" y="6373585"/>
            <a:ext cx="630446" cy="33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1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5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35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35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35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35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35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9D0F04-E714-4AE3-9094-D3DA4F3EF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Object </a:t>
            </a:r>
            <a:r>
              <a:rPr lang="it-IT" dirty="0" err="1"/>
              <a:t>Detection</a:t>
            </a:r>
            <a:r>
              <a:rPr lang="it-IT" dirty="0"/>
              <a:t> and </a:t>
            </a:r>
            <a:r>
              <a:rPr lang="it-IT" dirty="0" err="1"/>
              <a:t>Instance</a:t>
            </a:r>
            <a:r>
              <a:rPr lang="it-IT" dirty="0"/>
              <a:t> </a:t>
            </a:r>
            <a:r>
              <a:rPr lang="it-IT" dirty="0" err="1"/>
              <a:t>Segmentation</a:t>
            </a:r>
            <a:r>
              <a:rPr lang="it-IT" dirty="0"/>
              <a:t> on </a:t>
            </a:r>
            <a:r>
              <a:rPr lang="it-IT" dirty="0" err="1"/>
              <a:t>ModaNet</a:t>
            </a:r>
            <a:r>
              <a:rPr lang="it-IT" dirty="0"/>
              <a:t> dataset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09DFD66-EA6E-4216-AE3A-F00A3996D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21906"/>
          </a:xfrm>
        </p:spPr>
        <p:txBody>
          <a:bodyPr/>
          <a:lstStyle/>
          <a:p>
            <a:r>
              <a:rPr lang="it-IT" dirty="0"/>
              <a:t>Antonio Signorelli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DD4C13B8-EF67-8905-D8FA-6C1D6551656A}"/>
              </a:ext>
            </a:extLst>
          </p:cNvPr>
          <p:cNvSpPr txBox="1">
            <a:spLocks/>
          </p:cNvSpPr>
          <p:nvPr/>
        </p:nvSpPr>
        <p:spPr>
          <a:xfrm>
            <a:off x="1524000" y="5221224"/>
            <a:ext cx="9144000" cy="8046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0035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00035E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00035E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35E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35E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i="1" dirty="0"/>
              <a:t>Addestramento e analisi di un modello Mask-R-CNN per la segmentazione di oggetti fashion, con correzione del dataset e validazione su HPC</a:t>
            </a:r>
          </a:p>
        </p:txBody>
      </p:sp>
    </p:spTree>
    <p:extLst>
      <p:ext uri="{BB962C8B-B14F-4D97-AF65-F5344CB8AC3E}">
        <p14:creationId xmlns:p14="http://schemas.microsoft.com/office/powerpoint/2010/main" val="188046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97F927-6416-4FD7-AB62-EB409ADD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Obiettivi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E54BBE-AD52-4E5B-ABDB-0323982C1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 err="1"/>
              <a:t>Implementare</a:t>
            </a:r>
            <a:r>
              <a:rPr lang="en-US" sz="2000" dirty="0"/>
              <a:t> un </a:t>
            </a:r>
            <a:r>
              <a:rPr lang="en-US" sz="2000" dirty="0" err="1"/>
              <a:t>modello</a:t>
            </a:r>
            <a:r>
              <a:rPr lang="en-US" sz="2000" dirty="0"/>
              <a:t> di </a:t>
            </a:r>
            <a:r>
              <a:rPr lang="en-US" sz="2000" b="1" dirty="0"/>
              <a:t>Object Detection e Instance Segmentation</a:t>
            </a:r>
            <a:r>
              <a:rPr lang="en-US" sz="2000" dirty="0"/>
              <a:t> </a:t>
            </a:r>
            <a:r>
              <a:rPr lang="en-US" sz="2000" dirty="0" err="1"/>
              <a:t>sul</a:t>
            </a:r>
            <a:r>
              <a:rPr lang="en-US" sz="2000" dirty="0"/>
              <a:t> dataset </a:t>
            </a:r>
            <a:r>
              <a:rPr lang="en-US" sz="2000" b="1" dirty="0" err="1"/>
              <a:t>ModaNet</a:t>
            </a:r>
            <a:endParaRPr lang="en-US" sz="2000" b="1" dirty="0"/>
          </a:p>
          <a:p>
            <a:pPr>
              <a:buFontTx/>
              <a:buChar char="-"/>
            </a:pPr>
            <a:r>
              <a:rPr lang="en-US" sz="2000" dirty="0" err="1"/>
              <a:t>Eseguire</a:t>
            </a:r>
            <a:r>
              <a:rPr lang="en-US" sz="2000" dirty="0"/>
              <a:t> </a:t>
            </a:r>
            <a:r>
              <a:rPr lang="en-US" sz="2000" b="1" dirty="0"/>
              <a:t>data cleaning</a:t>
            </a:r>
            <a:r>
              <a:rPr lang="en-US" sz="2000" dirty="0"/>
              <a:t> e </a:t>
            </a:r>
            <a:r>
              <a:rPr lang="en-US" sz="2000" b="1" dirty="0"/>
              <a:t>re-annotation</a:t>
            </a:r>
            <a:r>
              <a:rPr lang="en-US" sz="2000" dirty="0"/>
              <a:t> per </a:t>
            </a:r>
            <a:r>
              <a:rPr lang="en-US" sz="2000" dirty="0" err="1"/>
              <a:t>classi</a:t>
            </a:r>
            <a:r>
              <a:rPr lang="en-US" sz="2000" dirty="0"/>
              <a:t> </a:t>
            </a:r>
            <a:r>
              <a:rPr lang="en-US" sz="2000" dirty="0" err="1"/>
              <a:t>problematiche</a:t>
            </a:r>
            <a:r>
              <a:rPr lang="en-US" sz="2000" dirty="0"/>
              <a:t> (footwear e boots)</a:t>
            </a:r>
          </a:p>
          <a:p>
            <a:pPr>
              <a:buFontTx/>
              <a:buChar char="-"/>
            </a:pPr>
            <a:r>
              <a:rPr lang="en-US" sz="2000" dirty="0" err="1"/>
              <a:t>Addestrare</a:t>
            </a:r>
            <a:r>
              <a:rPr lang="en-US" sz="2000" dirty="0"/>
              <a:t> da zero un </a:t>
            </a:r>
            <a:r>
              <a:rPr lang="en-US" sz="2000" dirty="0" err="1"/>
              <a:t>modello</a:t>
            </a:r>
            <a:r>
              <a:rPr lang="en-US" sz="2000" dirty="0"/>
              <a:t> </a:t>
            </a:r>
            <a:r>
              <a:rPr lang="en-US" sz="2000" b="1" dirty="0"/>
              <a:t>Mask-R-CNN </a:t>
            </a:r>
            <a:r>
              <a:rPr lang="en-US" sz="2000" b="1" dirty="0" err="1"/>
              <a:t>personalizzato</a:t>
            </a:r>
            <a:endParaRPr lang="en-US" sz="2000" b="1" dirty="0"/>
          </a:p>
          <a:p>
            <a:pPr>
              <a:buFontTx/>
              <a:buChar char="-"/>
            </a:pPr>
            <a:r>
              <a:rPr lang="en-US" sz="2000" dirty="0" err="1"/>
              <a:t>Effettuare</a:t>
            </a:r>
            <a:r>
              <a:rPr lang="en-US" sz="2000" dirty="0"/>
              <a:t> </a:t>
            </a:r>
            <a:r>
              <a:rPr lang="en-US" sz="2000" b="1" dirty="0"/>
              <a:t>ablation study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parametri</a:t>
            </a:r>
            <a:r>
              <a:rPr lang="en-US" sz="2000" dirty="0"/>
              <a:t> </a:t>
            </a:r>
            <a:r>
              <a:rPr lang="en-US" sz="2000" dirty="0" err="1"/>
              <a:t>chiave</a:t>
            </a:r>
            <a:r>
              <a:rPr lang="en-US" sz="2000" dirty="0"/>
              <a:t> </a:t>
            </a:r>
          </a:p>
          <a:p>
            <a:pPr>
              <a:buFontTx/>
              <a:buChar char="-"/>
            </a:pPr>
            <a:r>
              <a:rPr lang="en-US" sz="2000" b="1" dirty="0" err="1"/>
              <a:t>Confrontare</a:t>
            </a:r>
            <a:r>
              <a:rPr lang="en-US" sz="2000" b="1" dirty="0"/>
              <a:t> le performance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modelli</a:t>
            </a:r>
            <a:r>
              <a:rPr lang="en-US" sz="2000" dirty="0"/>
              <a:t> con dataset </a:t>
            </a:r>
            <a:r>
              <a:rPr lang="en-US" sz="2000" dirty="0" err="1"/>
              <a:t>originali</a:t>
            </a:r>
            <a:r>
              <a:rPr lang="en-US" sz="2000" dirty="0"/>
              <a:t> e con </a:t>
            </a:r>
            <a:r>
              <a:rPr lang="en-US" sz="2000" dirty="0" err="1"/>
              <a:t>annotazioni</a:t>
            </a:r>
            <a:r>
              <a:rPr lang="en-US" sz="2000" dirty="0"/>
              <a:t> </a:t>
            </a:r>
            <a:r>
              <a:rPr lang="en-US" sz="2000" dirty="0" err="1"/>
              <a:t>corrette</a:t>
            </a:r>
            <a:endParaRPr lang="en-US" sz="2000" dirty="0"/>
          </a:p>
          <a:p>
            <a:pPr>
              <a:buFontTx/>
              <a:buChar char="-"/>
            </a:pPr>
            <a:r>
              <a:rPr lang="en-US" sz="2000" dirty="0" err="1"/>
              <a:t>Addestramento</a:t>
            </a:r>
            <a:r>
              <a:rPr lang="en-US" sz="2000" dirty="0"/>
              <a:t> </a:t>
            </a:r>
            <a:r>
              <a:rPr lang="en-US" sz="2000" dirty="0" err="1"/>
              <a:t>sull’</a:t>
            </a:r>
            <a:r>
              <a:rPr lang="en-US" sz="2000" b="1" dirty="0" err="1"/>
              <a:t>HPC</a:t>
            </a:r>
            <a:r>
              <a:rPr lang="en-US" sz="2000" dirty="0"/>
              <a:t> per </a:t>
            </a:r>
            <a:r>
              <a:rPr lang="en-US" sz="2000" dirty="0" err="1"/>
              <a:t>gestire</a:t>
            </a:r>
            <a:r>
              <a:rPr lang="en-US" sz="2000" dirty="0"/>
              <a:t> tempi e </a:t>
            </a:r>
            <a:r>
              <a:rPr lang="en-US" sz="2000" dirty="0" err="1"/>
              <a:t>risorse</a:t>
            </a:r>
            <a:r>
              <a:rPr lang="en-US" sz="2000" dirty="0"/>
              <a:t> elevate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FCE9EC-BCAE-4E4C-BE97-5963D618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F695F9-A006-4067-B602-2AE734E6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9DA0B5-B883-4F01-B77B-4758DD73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409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3AF7-FE53-EEEC-FF7B-34F0D21C6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1EB0E6-63F4-BEA4-73CE-130542BC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it-IT" dirty="0"/>
              <a:t>Il dataset </a:t>
            </a:r>
            <a:r>
              <a:rPr lang="it-IT" dirty="0" err="1"/>
              <a:t>ModaNet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2B3669-9CF8-6839-1946-A41833EF2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Circa </a:t>
            </a:r>
            <a:r>
              <a:rPr lang="en-US" sz="2200" b="1" dirty="0"/>
              <a:t>53.000 </a:t>
            </a:r>
            <a:r>
              <a:rPr lang="en-US" sz="2200" b="1" dirty="0" err="1"/>
              <a:t>immagini</a:t>
            </a:r>
            <a:r>
              <a:rPr lang="en-US" sz="2200" dirty="0"/>
              <a:t> street fashion, </a:t>
            </a:r>
            <a:r>
              <a:rPr lang="en-US" sz="2200" b="1" dirty="0"/>
              <a:t>13 </a:t>
            </a:r>
            <a:r>
              <a:rPr lang="en-US" sz="2200" b="1" dirty="0" err="1"/>
              <a:t>categorie</a:t>
            </a:r>
            <a:endParaRPr lang="en-US" sz="2200" b="1" dirty="0"/>
          </a:p>
          <a:p>
            <a:pPr marL="0" indent="0">
              <a:buNone/>
            </a:pPr>
            <a:r>
              <a:rPr lang="en-US" sz="2200" dirty="0" err="1"/>
              <a:t>Annotazioni</a:t>
            </a:r>
            <a:r>
              <a:rPr lang="en-US" sz="2200" dirty="0"/>
              <a:t> COCO-like, ma con </a:t>
            </a:r>
            <a:r>
              <a:rPr lang="en-US" sz="2200" dirty="0" err="1"/>
              <a:t>errori</a:t>
            </a:r>
            <a:r>
              <a:rPr lang="en-US" sz="2200" dirty="0"/>
              <a:t> </a:t>
            </a:r>
            <a:r>
              <a:rPr lang="en-US" sz="2200" dirty="0" err="1"/>
              <a:t>evidenti</a:t>
            </a:r>
            <a:r>
              <a:rPr lang="en-US" sz="2200" dirty="0"/>
              <a:t> </a:t>
            </a:r>
            <a:r>
              <a:rPr lang="en-US" sz="2200" dirty="0" err="1"/>
              <a:t>su</a:t>
            </a:r>
            <a:r>
              <a:rPr lang="en-US" sz="2200" dirty="0"/>
              <a:t> </a:t>
            </a:r>
            <a:r>
              <a:rPr lang="en-US" sz="2200" dirty="0" err="1"/>
              <a:t>alcune</a:t>
            </a:r>
            <a:r>
              <a:rPr lang="en-US" sz="2200" dirty="0"/>
              <a:t> </a:t>
            </a:r>
            <a:r>
              <a:rPr lang="en-US" sz="2200" dirty="0" err="1"/>
              <a:t>classi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Pre-processing:</a:t>
            </a:r>
          </a:p>
          <a:p>
            <a:r>
              <a:rPr lang="en-US" sz="2200" dirty="0"/>
              <a:t>Split train/</a:t>
            </a:r>
            <a:r>
              <a:rPr lang="en-US" sz="2200" dirty="0" err="1"/>
              <a:t>val</a:t>
            </a:r>
            <a:r>
              <a:rPr lang="en-US" sz="2200" dirty="0"/>
              <a:t> 80/20</a:t>
            </a:r>
          </a:p>
          <a:p>
            <a:r>
              <a:rPr lang="en-US" sz="2200" dirty="0" err="1"/>
              <a:t>Controllo</a:t>
            </a:r>
            <a:r>
              <a:rPr lang="en-US" sz="2200" dirty="0"/>
              <a:t> </a:t>
            </a:r>
            <a:r>
              <a:rPr lang="en-US" sz="2200" dirty="0" err="1"/>
              <a:t>immagini</a:t>
            </a:r>
            <a:r>
              <a:rPr lang="en-US" sz="2200" dirty="0"/>
              <a:t> </a:t>
            </a:r>
            <a:r>
              <a:rPr lang="en-US" sz="2200" dirty="0" err="1"/>
              <a:t>corrotte</a:t>
            </a:r>
            <a:r>
              <a:rPr lang="en-US" sz="2200" dirty="0"/>
              <a:t> e </a:t>
            </a:r>
            <a:r>
              <a:rPr lang="en-US" sz="2200" dirty="0" err="1"/>
              <a:t>rimozione</a:t>
            </a:r>
            <a:r>
              <a:rPr lang="en-US" sz="2200" dirty="0"/>
              <a:t> </a:t>
            </a:r>
            <a:r>
              <a:rPr lang="en-US" sz="2200" dirty="0" err="1"/>
              <a:t>automatica</a:t>
            </a:r>
            <a:r>
              <a:rPr lang="en-US" sz="2200" dirty="0"/>
              <a:t> (fix_images.py)</a:t>
            </a:r>
          </a:p>
          <a:p>
            <a:r>
              <a:rPr lang="en-US" sz="2200" dirty="0" err="1"/>
              <a:t>Creazione</a:t>
            </a:r>
            <a:r>
              <a:rPr lang="en-US" sz="2200" dirty="0"/>
              <a:t> </a:t>
            </a:r>
            <a:r>
              <a:rPr lang="en-US" sz="2200" dirty="0" err="1"/>
              <a:t>annotazioni</a:t>
            </a:r>
            <a:r>
              <a:rPr lang="en-US" sz="2200" dirty="0"/>
              <a:t> fixed </a:t>
            </a:r>
            <a:r>
              <a:rPr lang="en-US" sz="2200" dirty="0" err="1"/>
              <a:t>mediante</a:t>
            </a:r>
            <a:r>
              <a:rPr lang="en-US" sz="2200" dirty="0"/>
              <a:t> lo script </a:t>
            </a:r>
            <a:r>
              <a:rPr lang="en-US" sz="2200" dirty="0" err="1"/>
              <a:t>dedicato</a:t>
            </a:r>
            <a:r>
              <a:rPr lang="en-US" sz="2200" dirty="0"/>
              <a:t> (fix_annotations.py)</a:t>
            </a:r>
          </a:p>
        </p:txBody>
      </p:sp>
      <p:pic>
        <p:nvPicPr>
          <p:cNvPr id="8" name="Immagine 7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5427D02-EBD3-6BA3-DD6C-BE8677380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955466"/>
            <a:ext cx="5923753" cy="2947067"/>
          </a:xfrm>
          <a:prstGeom prst="rect">
            <a:avLst/>
          </a:prstGeom>
          <a:noFill/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2F41FF-AFB4-DC8A-B832-8C00112C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F11BB5-E5D6-4816-8D90-BB648ABCEC83}" type="datetime1">
              <a:rPr lang="it-IT" smtClean="0"/>
              <a:pPr>
                <a:spcAft>
                  <a:spcPts val="600"/>
                </a:spcAft>
              </a:pPr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FDB4CD-B2FF-6BA8-7406-D01373EF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9994BF-376C-9036-20F4-3989B0C1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E7FD5B-77DF-497D-B1E1-D726720F45FE}" type="slidenum">
              <a:rPr lang="it-IT" smtClean="0"/>
              <a:pPr>
                <a:spcAft>
                  <a:spcPts val="600"/>
                </a:spcAft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620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99F40-D4C0-6CF0-3566-44F91DE9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persona, vestiti, jeans, Tasca&#10;&#10;Il contenuto generato dall'IA potrebbe non essere corretto.">
            <a:extLst>
              <a:ext uri="{FF2B5EF4-FFF2-40B4-BE49-F238E27FC236}">
                <a16:creationId xmlns:a16="http://schemas.microsoft.com/office/drawing/2014/main" id="{CEBC7CC9-1CFC-1785-C213-1A67FF4E1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84" y="528535"/>
            <a:ext cx="3677741" cy="5551304"/>
          </a:xfrm>
          <a:prstGeom prst="rect">
            <a:avLst/>
          </a:prstGeom>
          <a:noFill/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0E3F4D-33AE-A9CE-C611-4FEBFB68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F11BB5-E5D6-4816-8D90-BB648ABCEC83}" type="datetime1">
              <a:rPr lang="it-IT" smtClean="0"/>
              <a:pPr>
                <a:spcAft>
                  <a:spcPts val="600"/>
                </a:spcAft>
              </a:pPr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41B3F8-A430-898F-9CC4-5284E857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EC82D3-1E2C-7932-8B1D-77F4DB5F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E7FD5B-77DF-497D-B1E1-D726720F45FE}" type="slidenum">
              <a:rPr lang="it-IT" smtClean="0"/>
              <a:pPr>
                <a:spcAft>
                  <a:spcPts val="600"/>
                </a:spcAft>
              </a:pPr>
              <a:t>4</a:t>
            </a:fld>
            <a:endParaRPr lang="it-IT"/>
          </a:p>
        </p:txBody>
      </p:sp>
      <p:pic>
        <p:nvPicPr>
          <p:cNvPr id="17" name="Immagine 16" descr="Immagine che contiene vestiti, persona, Accessorio di moda, vita&#10;&#10;Il contenuto generato dall'IA potrebbe non essere corretto.">
            <a:extLst>
              <a:ext uri="{FF2B5EF4-FFF2-40B4-BE49-F238E27FC236}">
                <a16:creationId xmlns:a16="http://schemas.microsoft.com/office/drawing/2014/main" id="{4E551268-826D-B392-E0A8-A5FE7B85C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660" y="615664"/>
            <a:ext cx="3677740" cy="5464175"/>
          </a:xfrm>
          <a:prstGeom prst="rect">
            <a:avLst/>
          </a:prstGeom>
        </p:spPr>
      </p:pic>
      <p:pic>
        <p:nvPicPr>
          <p:cNvPr id="19" name="Immagine 18" descr="Immagine che contiene vestiti, persona, calzature, aria aperta&#10;&#10;Il contenuto generato dall'IA potrebbe non essere corretto.">
            <a:extLst>
              <a:ext uri="{FF2B5EF4-FFF2-40B4-BE49-F238E27FC236}">
                <a16:creationId xmlns:a16="http://schemas.microsoft.com/office/drawing/2014/main" id="{AD47D72A-453E-650E-6CDD-3299AD1A4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900" y="637187"/>
            <a:ext cx="3677740" cy="546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1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E533-AB4A-BC69-4EBD-BD874DE6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3487DE-51FF-AFFC-13CB-3CF91A6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300" dirty="0"/>
              <a:t>Correzione e validazione del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4E5FF5-C9F2-051C-8DEA-37F577735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13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Script </a:t>
            </a:r>
            <a:r>
              <a:rPr lang="en-US" sz="2400" u="sng" dirty="0" err="1"/>
              <a:t>principali</a:t>
            </a:r>
            <a:r>
              <a:rPr lang="en-US" sz="2400" u="sng" dirty="0"/>
              <a:t>:</a:t>
            </a:r>
          </a:p>
          <a:p>
            <a:pPr>
              <a:buFontTx/>
              <a:buChar char="-"/>
            </a:pPr>
            <a:r>
              <a:rPr lang="en-US" sz="2400" b="1" i="1" dirty="0"/>
              <a:t>fix_images.py</a:t>
            </a:r>
            <a:r>
              <a:rPr lang="en-US" sz="2400" dirty="0"/>
              <a:t>: filtra le </a:t>
            </a:r>
            <a:r>
              <a:rPr lang="en-US" sz="2400" dirty="0" err="1"/>
              <a:t>immagini</a:t>
            </a:r>
            <a:r>
              <a:rPr lang="en-US" sz="2400" dirty="0"/>
              <a:t> </a:t>
            </a:r>
            <a:r>
              <a:rPr lang="en-US" sz="2400" dirty="0" err="1"/>
              <a:t>corrotte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b="1" i="1" dirty="0"/>
              <a:t>fix_annotations.py</a:t>
            </a:r>
            <a:r>
              <a:rPr lang="en-US" sz="2400" b="1" dirty="0"/>
              <a:t>: </a:t>
            </a:r>
            <a:r>
              <a:rPr lang="en-US" sz="2400" dirty="0"/>
              <a:t>Genera </a:t>
            </a:r>
            <a:r>
              <a:rPr lang="en-US" sz="2400" dirty="0" err="1"/>
              <a:t>nuove</a:t>
            </a:r>
            <a:r>
              <a:rPr lang="en-US" sz="2400" dirty="0"/>
              <a:t> </a:t>
            </a:r>
            <a:r>
              <a:rPr lang="en-US" sz="2400" dirty="0" err="1"/>
              <a:t>annotazioni</a:t>
            </a:r>
            <a:r>
              <a:rPr lang="en-US" sz="2400" dirty="0"/>
              <a:t> </a:t>
            </a:r>
            <a:r>
              <a:rPr lang="en-US" sz="2400" dirty="0" err="1"/>
              <a:t>corrette</a:t>
            </a:r>
            <a:r>
              <a:rPr lang="en-US" sz="2400" dirty="0"/>
              <a:t> </a:t>
            </a:r>
            <a:endParaRPr lang="en-US" sz="2400" b="1" dirty="0"/>
          </a:p>
          <a:p>
            <a:pPr>
              <a:buFontTx/>
              <a:buChar char="-"/>
            </a:pPr>
            <a:r>
              <a:rPr lang="en-US" sz="2400" b="1" i="1" dirty="0"/>
              <a:t>check_annotations.py</a:t>
            </a:r>
            <a:r>
              <a:rPr lang="en-US" sz="2400" dirty="0"/>
              <a:t>: </a:t>
            </a:r>
            <a:r>
              <a:rPr lang="en-US" sz="2400" dirty="0" err="1"/>
              <a:t>mostra</a:t>
            </a:r>
            <a:r>
              <a:rPr lang="en-US" sz="2400" dirty="0"/>
              <a:t> </a:t>
            </a:r>
            <a:r>
              <a:rPr lang="en-US" sz="2400" dirty="0" err="1"/>
              <a:t>quante</a:t>
            </a:r>
            <a:r>
              <a:rPr lang="en-US" sz="2400" dirty="0"/>
              <a:t> </a:t>
            </a:r>
            <a:r>
              <a:rPr lang="en-US" sz="2400" dirty="0" err="1"/>
              <a:t>annotazioni</a:t>
            </a:r>
            <a:r>
              <a:rPr lang="en-US" sz="2400" dirty="0"/>
              <a:t> </a:t>
            </a:r>
            <a:r>
              <a:rPr lang="en-US" sz="2400" dirty="0" err="1"/>
              <a:t>sono</a:t>
            </a:r>
            <a:r>
              <a:rPr lang="en-US" sz="2400" dirty="0"/>
              <a:t> </a:t>
            </a:r>
            <a:r>
              <a:rPr lang="en-US" sz="2400" dirty="0" err="1"/>
              <a:t>cambiate</a:t>
            </a:r>
            <a:r>
              <a:rPr lang="en-US" sz="2400" dirty="0"/>
              <a:t> 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12AF35-050C-F9DC-9083-CB22168F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DC86B6-33D6-985F-A449-A918B3A3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2F06B4-4606-8210-DBC2-7505929B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701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CCCF-65BE-8790-A15D-23330875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785A9A-C12D-F658-F004-E896FEB1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300" dirty="0"/>
              <a:t>Correzione e validazione delle annotazioni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1B9E5F-FA9D-4B73-9775-98C38D416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02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6A1043-6214-1EE2-1D2B-AECB79F7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AFE4EA-05FB-65ED-7329-C5818F0A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4B8ABF-A08B-6144-5D5D-84CEF65E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6</a:t>
            </a:fld>
            <a:endParaRPr lang="it-IT"/>
          </a:p>
        </p:txBody>
      </p:sp>
      <p:pic>
        <p:nvPicPr>
          <p:cNvPr id="8" name="Immagine 7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7C61203-2015-634F-8255-B0F82E685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147637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F3B73-F07B-AC62-90F2-C8494F99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9A9710-D4AF-01B7-D4D2-555C54B1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it-IT" sz="4300" dirty="0"/>
              <a:t>Correzione e validazione delle annotazioni</a:t>
            </a:r>
          </a:p>
        </p:txBody>
      </p:sp>
      <p:pic>
        <p:nvPicPr>
          <p:cNvPr id="10" name="Immagine 9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7690E9D8-6725-27A1-5B80-9D656C3BC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1" y="1970082"/>
            <a:ext cx="6000759" cy="3600455"/>
          </a:xfrm>
          <a:prstGeom prst="rect">
            <a:avLst/>
          </a:prstGeom>
          <a:noFill/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8D32D7-9E79-C645-90BB-C6D91C44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F11BB5-E5D6-4816-8D90-BB648ABCEC83}" type="datetime1">
              <a:rPr lang="it-IT" smtClean="0"/>
              <a:pPr>
                <a:spcAft>
                  <a:spcPts val="600"/>
                </a:spcAft>
              </a:pPr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36CE2D-EFA4-06E7-F046-E780489B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E08530-E469-A7FA-DCA8-5E3B8D5D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E7FD5B-77DF-497D-B1E1-D726720F45FE}" type="slidenum">
              <a:rPr lang="it-IT" smtClean="0"/>
              <a:pPr>
                <a:spcAft>
                  <a:spcPts val="600"/>
                </a:spcAft>
              </a:pPr>
              <a:t>7</a:t>
            </a:fld>
            <a:endParaRPr lang="it-IT"/>
          </a:p>
        </p:txBody>
      </p:sp>
      <p:pic>
        <p:nvPicPr>
          <p:cNvPr id="12" name="Immagine 11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F901EE2-974A-02B1-FEAC-12C4E9204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94370"/>
            <a:ext cx="5919797" cy="35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04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8794-E8DA-95A1-4164-B3D8FB33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2FB210-4622-1F50-1678-CEFF24BC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300" dirty="0"/>
              <a:t>Custom Dataset Loader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9D1A10-AEE0-3262-91C3-977A849F4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70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File: </a:t>
            </a:r>
            <a:r>
              <a:rPr lang="en-US" sz="2000" b="1" i="1" dirty="0"/>
              <a:t>custom_loader.py</a:t>
            </a:r>
          </a:p>
          <a:p>
            <a:pPr marL="0" indent="0">
              <a:buNone/>
            </a:pPr>
            <a:endParaRPr lang="en-US" sz="2000" b="1" i="1" dirty="0"/>
          </a:p>
          <a:p>
            <a:pPr>
              <a:buFontTx/>
              <a:buChar char="-"/>
            </a:pPr>
            <a:r>
              <a:rPr lang="en-US" sz="2000" dirty="0"/>
              <a:t>Legge le </a:t>
            </a:r>
            <a:r>
              <a:rPr lang="en-US" sz="2000" dirty="0" err="1"/>
              <a:t>annotazioni</a:t>
            </a:r>
            <a:r>
              <a:rPr lang="en-US" sz="2000" dirty="0"/>
              <a:t> in </a:t>
            </a:r>
            <a:r>
              <a:rPr lang="en-US" sz="2000" dirty="0" err="1"/>
              <a:t>formato</a:t>
            </a:r>
            <a:r>
              <a:rPr lang="en-US" sz="2000" dirty="0"/>
              <a:t> COCO</a:t>
            </a:r>
          </a:p>
          <a:p>
            <a:pPr>
              <a:buFontTx/>
              <a:buChar char="-"/>
            </a:pPr>
            <a:r>
              <a:rPr lang="en-US" sz="2000" dirty="0"/>
              <a:t>Applica </a:t>
            </a:r>
            <a:r>
              <a:rPr lang="en-US" sz="2000" b="1" dirty="0"/>
              <a:t>data augmentation </a:t>
            </a:r>
            <a:r>
              <a:rPr lang="en-US" sz="2000" dirty="0"/>
              <a:t>(flip </a:t>
            </a:r>
            <a:r>
              <a:rPr lang="en-US" sz="2000" dirty="0" err="1"/>
              <a:t>orizzontale</a:t>
            </a:r>
            <a:r>
              <a:rPr lang="en-US" sz="2000" dirty="0"/>
              <a:t>)</a:t>
            </a:r>
          </a:p>
          <a:p>
            <a:pPr>
              <a:buFontTx/>
              <a:buChar char="-"/>
            </a:pPr>
            <a:r>
              <a:rPr lang="en-US" sz="2000" dirty="0" err="1"/>
              <a:t>Gestice</a:t>
            </a:r>
            <a:r>
              <a:rPr lang="en-US" sz="2000" dirty="0"/>
              <a:t> batching </a:t>
            </a:r>
            <a:r>
              <a:rPr lang="en-US" sz="2000" dirty="0" err="1"/>
              <a:t>dinamico</a:t>
            </a:r>
            <a:r>
              <a:rPr lang="en-US" sz="2000" dirty="0"/>
              <a:t> con </a:t>
            </a:r>
            <a:r>
              <a:rPr lang="en-US" sz="2000" dirty="0" err="1"/>
              <a:t>collate_fn</a:t>
            </a:r>
            <a:endParaRPr lang="en-US" sz="2000" dirty="0"/>
          </a:p>
          <a:p>
            <a:pPr>
              <a:buFontTx/>
              <a:buChar char="-"/>
            </a:pPr>
            <a:r>
              <a:rPr lang="en-US" sz="2000" dirty="0"/>
              <a:t>Include </a:t>
            </a:r>
            <a:r>
              <a:rPr lang="en-US" sz="2000" dirty="0" err="1"/>
              <a:t>funzioni</a:t>
            </a:r>
            <a:r>
              <a:rPr lang="en-US" sz="2000" dirty="0"/>
              <a:t> di </a:t>
            </a:r>
            <a:r>
              <a:rPr lang="en-US" sz="2000" dirty="0" err="1"/>
              <a:t>valutazione</a:t>
            </a:r>
            <a:r>
              <a:rPr lang="en-US" sz="2000" dirty="0"/>
              <a:t> e </a:t>
            </a:r>
            <a:r>
              <a:rPr lang="en-US" sz="2000" dirty="0" err="1"/>
              <a:t>visualizzazione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B3591F-8603-6518-0FBE-F5F1DA1A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2B1E3B-D6CF-BBB7-4801-071617E7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EAB64D-5E55-B662-F364-EC7A75FB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8</a:t>
            </a:fld>
            <a:endParaRPr lang="it-IT"/>
          </a:p>
        </p:txBody>
      </p:sp>
      <p:pic>
        <p:nvPicPr>
          <p:cNvPr id="16" name="Immagine 15" descr="Immagine che contiene testo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FA6C429D-864F-35F5-B9FE-0F7FDF4B2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7" y="1825625"/>
            <a:ext cx="5180457" cy="34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FBAB-4013-4B34-A104-F27604D1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F6EDB9-8C67-A020-12EF-1C0D4A38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it-IT"/>
              <a:t>Architettura del modello</a:t>
            </a:r>
          </a:p>
        </p:txBody>
      </p:sp>
      <p:pic>
        <p:nvPicPr>
          <p:cNvPr id="10" name="Immagine 9" descr="Immagine che contiene diagramma, schizzo, origami, design&#10;&#10;Il contenuto generato dall'IA potrebbe non essere corretto.">
            <a:extLst>
              <a:ext uri="{FF2B5EF4-FFF2-40B4-BE49-F238E27FC236}">
                <a16:creationId xmlns:a16="http://schemas.microsoft.com/office/drawing/2014/main" id="{D1A64EDE-D512-A24D-0134-94D3E12C9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851"/>
            <a:ext cx="6019800" cy="2332671"/>
          </a:xfrm>
          <a:prstGeom prst="rect">
            <a:avLst/>
          </a:prstGeom>
          <a:noFill/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1E7CBF-5D2F-0FC4-3B1C-EBACAB6B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435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File: </a:t>
            </a:r>
            <a:r>
              <a:rPr lang="en-US" sz="2000" b="1" i="1" dirty="0"/>
              <a:t>custom_model.py</a:t>
            </a:r>
          </a:p>
          <a:p>
            <a:pPr marL="0" indent="0">
              <a:buNone/>
            </a:pPr>
            <a:endParaRPr lang="en-US" sz="2000" b="1" i="1" dirty="0"/>
          </a:p>
          <a:p>
            <a:pPr marL="0" indent="0">
              <a:buNone/>
            </a:pPr>
            <a:r>
              <a:rPr lang="en-US" sz="2000" dirty="0"/>
              <a:t>Base: </a:t>
            </a:r>
            <a:r>
              <a:rPr lang="en-US" sz="2000" b="1" dirty="0"/>
              <a:t>Mask R-CNN </a:t>
            </a:r>
            <a:r>
              <a:rPr lang="en-US" sz="2000" dirty="0"/>
              <a:t>(</a:t>
            </a:r>
            <a:r>
              <a:rPr lang="en-US" sz="2000" b="1" dirty="0"/>
              <a:t>ResNet50</a:t>
            </a:r>
            <a:r>
              <a:rPr lang="en-US" sz="2000" dirty="0"/>
              <a:t> + </a:t>
            </a:r>
            <a:r>
              <a:rPr lang="en-US" sz="2000" b="1" dirty="0"/>
              <a:t>FPN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 err="1"/>
              <a:t>Personalizzazioni</a:t>
            </a:r>
            <a:r>
              <a:rPr lang="en-US" sz="2000" dirty="0"/>
              <a:t> </a:t>
            </a:r>
            <a:r>
              <a:rPr lang="en-US" sz="2000" dirty="0" err="1"/>
              <a:t>implementate</a:t>
            </a:r>
            <a:r>
              <a:rPr lang="en-US" sz="2000" dirty="0"/>
              <a:t>:</a:t>
            </a:r>
          </a:p>
          <a:p>
            <a:r>
              <a:rPr lang="en-US" sz="2000" b="1" dirty="0"/>
              <a:t>Custom Box Predictor</a:t>
            </a:r>
            <a:r>
              <a:rPr lang="en-US" sz="2000" dirty="0"/>
              <a:t>: multilayer perceptron per la </a:t>
            </a:r>
            <a:r>
              <a:rPr lang="en-US" sz="2000" dirty="0" err="1"/>
              <a:t>classificazione</a:t>
            </a:r>
            <a:endParaRPr lang="en-US" sz="2000" dirty="0"/>
          </a:p>
          <a:p>
            <a:r>
              <a:rPr lang="en-US" sz="2000" b="1" dirty="0"/>
              <a:t>Custom Mask Predictor</a:t>
            </a:r>
            <a:r>
              <a:rPr lang="en-US" sz="2000" dirty="0"/>
              <a:t>: CNN 2D con kernel/stride/padding di default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u="sng" dirty="0"/>
              <a:t>Output</a:t>
            </a:r>
            <a:r>
              <a:rPr lang="en-US" sz="2000" dirty="0"/>
              <a:t>: bounding box, label e mask per ogni </a:t>
            </a:r>
            <a:r>
              <a:rPr lang="en-US" sz="2000" dirty="0" err="1"/>
              <a:t>istanza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54EF87-BF23-C6E1-C8A4-0CDF94D9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F11BB5-E5D6-4816-8D90-BB648ABCEC83}" type="datetime1">
              <a:rPr lang="it-IT" smtClean="0"/>
              <a:pPr>
                <a:spcAft>
                  <a:spcPts val="600"/>
                </a:spcAft>
              </a:pPr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AF871B-0D7E-F6CB-58D8-D30AE3B4C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F5BAE0-055D-FAAE-BD20-17EA5A00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E7FD5B-77DF-497D-B1E1-D726720F45FE}" type="slidenum">
              <a:rPr lang="it-IT" smtClean="0"/>
              <a:pPr>
                <a:spcAft>
                  <a:spcPts val="600"/>
                </a:spcAft>
              </a:pPr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9017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EEAA3-020A-8341-D024-8FEAEFA4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144D02-AED5-41B5-AB98-673F4231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4300" dirty="0"/>
              <a:t>Training Pipeline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E58AEF-996F-EB2F-CFC4-72A3BFBFB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96375" cy="3270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File: </a:t>
            </a:r>
            <a:r>
              <a:rPr lang="en-US" sz="2000" b="1" i="1" dirty="0"/>
              <a:t>train.py</a:t>
            </a:r>
          </a:p>
          <a:p>
            <a:pPr marL="0" indent="0">
              <a:buNone/>
            </a:pPr>
            <a:endParaRPr lang="en-US" sz="2000" b="1" i="1" dirty="0"/>
          </a:p>
          <a:p>
            <a:pPr>
              <a:buFontTx/>
              <a:buChar char="-"/>
            </a:pPr>
            <a:r>
              <a:rPr lang="en-US" sz="2000" dirty="0" err="1"/>
              <a:t>Gestione</a:t>
            </a:r>
            <a:r>
              <a:rPr lang="en-US" sz="2000" dirty="0"/>
              <a:t> complete del </a:t>
            </a:r>
            <a:r>
              <a:rPr lang="en-US" sz="2000" b="1" dirty="0"/>
              <a:t>training loop </a:t>
            </a:r>
          </a:p>
          <a:p>
            <a:pPr>
              <a:buFontTx/>
              <a:buChar char="-"/>
            </a:pPr>
            <a:r>
              <a:rPr lang="en-US" sz="2000" dirty="0" err="1"/>
              <a:t>Salvataggio</a:t>
            </a:r>
            <a:r>
              <a:rPr lang="en-US" sz="2000" dirty="0"/>
              <a:t> </a:t>
            </a:r>
            <a:r>
              <a:rPr lang="en-US" sz="2000" dirty="0" err="1"/>
              <a:t>automatico</a:t>
            </a:r>
            <a:r>
              <a:rPr lang="en-US" sz="2000" dirty="0"/>
              <a:t> </a:t>
            </a:r>
            <a:r>
              <a:rPr lang="en-US" sz="2000" dirty="0" err="1"/>
              <a:t>dei</a:t>
            </a:r>
            <a:r>
              <a:rPr lang="en-US" sz="2000" dirty="0"/>
              <a:t> </a:t>
            </a:r>
            <a:r>
              <a:rPr lang="en-US" sz="2000" b="1" dirty="0"/>
              <a:t>checkpoint</a:t>
            </a:r>
            <a:r>
              <a:rPr lang="en-US" sz="2000" dirty="0"/>
              <a:t> (con </a:t>
            </a:r>
            <a:r>
              <a:rPr lang="en-US" sz="2000" dirty="0" err="1"/>
              <a:t>possibilità</a:t>
            </a:r>
            <a:r>
              <a:rPr lang="en-US" sz="2000" dirty="0"/>
              <a:t> di </a:t>
            </a:r>
            <a:r>
              <a:rPr lang="en-US" sz="2000" u="sng" dirty="0" err="1"/>
              <a:t>riprendere</a:t>
            </a:r>
            <a:r>
              <a:rPr lang="en-US" sz="2000" dirty="0"/>
              <a:t> il training)</a:t>
            </a:r>
          </a:p>
          <a:p>
            <a:pPr>
              <a:buFontTx/>
              <a:buChar char="-"/>
            </a:pPr>
            <a:r>
              <a:rPr lang="en-US" sz="2000" dirty="0"/>
              <a:t>Flag –fixed per </a:t>
            </a:r>
            <a:r>
              <a:rPr lang="en-US" sz="2000" dirty="0" err="1"/>
              <a:t>usare</a:t>
            </a:r>
            <a:r>
              <a:rPr lang="en-US" sz="2000" dirty="0"/>
              <a:t> il dataset con </a:t>
            </a:r>
            <a:r>
              <a:rPr lang="en-US" sz="2000" b="1" dirty="0" err="1"/>
              <a:t>annotazioni</a:t>
            </a:r>
            <a:r>
              <a:rPr lang="en-US" sz="2000" b="1" dirty="0"/>
              <a:t> </a:t>
            </a:r>
            <a:r>
              <a:rPr lang="en-US" sz="2000" b="1" dirty="0" err="1"/>
              <a:t>corrette</a:t>
            </a:r>
            <a:endParaRPr lang="en-US" sz="2000" b="1" dirty="0"/>
          </a:p>
          <a:p>
            <a:pPr>
              <a:buFontTx/>
              <a:buChar char="-"/>
            </a:pPr>
            <a:r>
              <a:rPr lang="en-US" sz="2000" dirty="0" err="1"/>
              <a:t>Registrazione</a:t>
            </a:r>
            <a:r>
              <a:rPr lang="en-US" sz="2000" dirty="0"/>
              <a:t> </a:t>
            </a:r>
            <a:r>
              <a:rPr lang="en-US" sz="2000" dirty="0" err="1"/>
              <a:t>dei</a:t>
            </a:r>
            <a:r>
              <a:rPr lang="en-US" sz="2000" dirty="0"/>
              <a:t> </a:t>
            </a:r>
            <a:r>
              <a:rPr lang="en-US" sz="2000" dirty="0" err="1"/>
              <a:t>risultati</a:t>
            </a:r>
            <a:r>
              <a:rPr lang="en-US" sz="2000" dirty="0"/>
              <a:t> (AP box/mask, loss) ad ogni </a:t>
            </a:r>
            <a:r>
              <a:rPr lang="en-US" sz="2000" dirty="0" err="1"/>
              <a:t>epoca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3B635C-F877-484B-5C7B-583D0A97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D4BBF4-CC78-0ADF-854E-0FFF6517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15B793-097C-1A2B-5CD6-E2AF3D79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10</a:t>
            </a:fld>
            <a:endParaRPr lang="it-IT"/>
          </a:p>
        </p:txBody>
      </p:sp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1B2531A7-4442-C2AA-3B33-485E1A119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4341900"/>
            <a:ext cx="10629900" cy="177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1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2BD6-DD21-0FB0-6AAF-4F21C6C8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3D2C4F-7887-1D36-B1BE-84ECDBC5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Ablation</a:t>
            </a:r>
            <a:r>
              <a:rPr lang="it-IT" dirty="0"/>
              <a:t> Study e Re-training (1/2)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55F595-81C6-2EDE-2A9B-A54BED7FF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2800" cy="3075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/>
              <a:t>Esperimenti principali:</a:t>
            </a:r>
          </a:p>
          <a:p>
            <a:r>
              <a:rPr lang="en-US" sz="2000"/>
              <a:t>Variazione di learning rate, epoche, dimensioni dei predictor</a:t>
            </a:r>
          </a:p>
          <a:p>
            <a:r>
              <a:rPr lang="en-US" sz="2000"/>
              <a:t>Confronto modelli fixed e non_fixed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u="sng"/>
              <a:t>Risultati :</a:t>
            </a:r>
          </a:p>
          <a:p>
            <a:r>
              <a:rPr lang="en-US" sz="2000"/>
              <a:t>Piccole variazioni di AP box/mask, ma nessun salto drastico.</a:t>
            </a:r>
          </a:p>
          <a:p>
            <a:r>
              <a:rPr lang="en-US" sz="2000"/>
              <a:t>Migliore stabilità nella convergenza del dataset pulito</a:t>
            </a:r>
            <a:endParaRPr lang="en-US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A1EC15-5D93-B9A4-9C79-F9D846A8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0191DF-471C-9A32-5902-4CD8B5892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1FAACA-2ED3-8668-D197-54EB46DA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33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B3AD-416A-7577-96D4-E40F910D8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8B85E2-F1EB-7B65-59AE-8153C14F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it-IT" dirty="0" err="1"/>
              <a:t>Ablation</a:t>
            </a:r>
            <a:r>
              <a:rPr lang="it-IT" dirty="0"/>
              <a:t> Study e Re-training (2/2)</a:t>
            </a:r>
            <a:endParaRPr lang="it-IT"/>
          </a:p>
        </p:txBody>
      </p:sp>
      <p:pic>
        <p:nvPicPr>
          <p:cNvPr id="7" name="Immagine 6" descr="Immagine che contiene testo, schermata,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0EB27C34-CD25-DFCA-D5D7-A17273C07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77" b="2763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81FA0A-976C-238F-2AF6-F7D7BDA1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F11BB5-E5D6-4816-8D90-BB648ABCEC83}" type="datetime1">
              <a:rPr lang="it-IT" smtClean="0"/>
              <a:pPr>
                <a:spcAft>
                  <a:spcPts val="600"/>
                </a:spcAft>
              </a:pPr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68783C-2223-75CD-734F-E25AEB63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727262-5DC9-002B-2427-DC1E33FE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E7FD5B-77DF-497D-B1E1-D726720F45FE}" type="slidenum">
              <a:rPr lang="it-IT" smtClean="0"/>
              <a:pPr>
                <a:spcAft>
                  <a:spcPts val="600"/>
                </a:spcAft>
              </a:pPr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3932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D2E8-5903-98C8-8DD8-2E92C3E6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A9F011-4B4A-4296-4424-457B0713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Valutazione e Metriche (1/2)</a:t>
            </a:r>
            <a:endParaRPr lang="it-IT" sz="43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7B1E32-7E5B-0AA9-93FE-BD8D48454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98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err="1"/>
              <a:t>Protocollo</a:t>
            </a:r>
            <a:r>
              <a:rPr lang="en-US" sz="2400" u="sng" dirty="0"/>
              <a:t> di </a:t>
            </a:r>
            <a:r>
              <a:rPr lang="en-US" sz="2400" u="sng" dirty="0" err="1"/>
              <a:t>valutazione</a:t>
            </a:r>
            <a:r>
              <a:rPr lang="en-US" sz="2400" u="sng" dirty="0"/>
              <a:t>:</a:t>
            </a:r>
          </a:p>
          <a:p>
            <a:r>
              <a:rPr lang="en-US" sz="2000" b="1" dirty="0" err="1"/>
              <a:t>Metriche</a:t>
            </a:r>
            <a:r>
              <a:rPr lang="en-US" sz="2000" b="1" dirty="0"/>
              <a:t> COCO</a:t>
            </a:r>
            <a:r>
              <a:rPr lang="en-US" sz="2000" dirty="0"/>
              <a:t>: AP Box, AP Mask.</a:t>
            </a:r>
          </a:p>
          <a:p>
            <a:r>
              <a:rPr lang="en-US" sz="2000" b="1" dirty="0"/>
              <a:t>Dataset</a:t>
            </a:r>
            <a:r>
              <a:rPr lang="en-US" sz="2000" dirty="0"/>
              <a:t>: 20% validation set (</a:t>
            </a:r>
            <a:r>
              <a:rPr lang="en-US" sz="2000" dirty="0" err="1"/>
              <a:t>stesso</a:t>
            </a:r>
            <a:r>
              <a:rPr lang="en-US" sz="2000" dirty="0"/>
              <a:t> split per tutti </a:t>
            </a:r>
            <a:r>
              <a:rPr lang="en-US" sz="2000" dirty="0" err="1"/>
              <a:t>i</a:t>
            </a:r>
            <a:r>
              <a:rPr lang="en-US" sz="2000" dirty="0"/>
              <a:t> test).</a:t>
            </a:r>
          </a:p>
          <a:p>
            <a:r>
              <a:rPr lang="en-US" sz="2000" dirty="0"/>
              <a:t>File: </a:t>
            </a:r>
            <a:r>
              <a:rPr lang="en-US" sz="2000" b="1" i="1" dirty="0"/>
              <a:t>evaluation.py </a:t>
            </a:r>
            <a:r>
              <a:rPr lang="en-US" sz="2000" dirty="0" err="1"/>
              <a:t>basato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b="1" dirty="0" err="1"/>
              <a:t>COCOeval</a:t>
            </a:r>
            <a:r>
              <a:rPr lang="en-US" sz="2000" b="1" dirty="0"/>
              <a:t>.</a:t>
            </a:r>
          </a:p>
          <a:p>
            <a:r>
              <a:rPr lang="en-US" sz="2000" b="1" dirty="0" err="1"/>
              <a:t>Criterio</a:t>
            </a:r>
            <a:r>
              <a:rPr lang="en-US" sz="2000" b="1" dirty="0"/>
              <a:t> di </a:t>
            </a:r>
            <a:r>
              <a:rPr lang="en-US" sz="2000" b="1" dirty="0" err="1"/>
              <a:t>selezione</a:t>
            </a:r>
            <a:r>
              <a:rPr lang="en-US" sz="2000" dirty="0"/>
              <a:t>: ultimo </a:t>
            </a:r>
            <a:r>
              <a:rPr lang="en-US" sz="2000" b="1" dirty="0"/>
              <a:t>checkpoint.</a:t>
            </a:r>
            <a:endParaRPr lang="en-US" sz="2000" dirty="0"/>
          </a:p>
          <a:p>
            <a:r>
              <a:rPr lang="en-US" sz="2000" b="1" dirty="0"/>
              <a:t>Execution environment: HPC.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B4AFBF-B055-43FE-C3BE-CDED11703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FBCCB9-C6AA-BBED-CB7F-2AC5A19C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84395F-F7B6-F802-339C-DF163BAF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257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6FBA-F6A4-5EF2-C6CB-B11C8FF33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C3A408-F7A5-E903-DE5E-13D1DBD4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Valutazione e Metriche (2/2)</a:t>
            </a:r>
            <a:endParaRPr lang="it-IT" sz="43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F9125E-51DF-4BB6-580D-3DC7ED36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55753E-98D9-974B-4182-3E1F08141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C85853-24B1-13B8-7CA3-8F281772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14</a:t>
            </a:fld>
            <a:endParaRPr lang="it-IT"/>
          </a:p>
        </p:txBody>
      </p:sp>
      <p:pic>
        <p:nvPicPr>
          <p:cNvPr id="10" name="Immagine 9" descr="Immagine che contiene vestiti, persona, interno, Viso umano&#10;&#10;Il contenuto generato dall'IA potrebbe non essere corretto.">
            <a:extLst>
              <a:ext uri="{FF2B5EF4-FFF2-40B4-BE49-F238E27FC236}">
                <a16:creationId xmlns:a16="http://schemas.microsoft.com/office/drawing/2014/main" id="{15B864AB-9D65-C148-FC08-C8FEB0E5E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1485900"/>
            <a:ext cx="5181600" cy="3886200"/>
          </a:xfrm>
          <a:prstGeom prst="rect">
            <a:avLst/>
          </a:prstGeom>
        </p:spPr>
      </p:pic>
      <p:pic>
        <p:nvPicPr>
          <p:cNvPr id="12" name="Immagine 11" descr="Immagine che contiene calzature, vestiti,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757D3D0A-F070-0668-6616-17B9DF59E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1485900"/>
            <a:ext cx="50038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23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00A5-8377-4F56-D6BC-D422314B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4968BC-531B-D33A-7279-3EFE2913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Analisi dei Risultati</a:t>
            </a:r>
            <a:endParaRPr lang="it-IT" sz="43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243029-ACF3-7CCC-559B-3D3691989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4797"/>
            <a:ext cx="10515600" cy="2823146"/>
          </a:xfrm>
        </p:spPr>
        <p:txBody>
          <a:bodyPr>
            <a:normAutofit/>
          </a:bodyPr>
          <a:lstStyle/>
          <a:p>
            <a:r>
              <a:rPr lang="en-US" sz="2000" dirty="0"/>
              <a:t>Le </a:t>
            </a:r>
            <a:r>
              <a:rPr lang="en-US" sz="2000" dirty="0" err="1"/>
              <a:t>differenze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le </a:t>
            </a:r>
            <a:r>
              <a:rPr lang="en-US" sz="2000" dirty="0" err="1"/>
              <a:t>varie</a:t>
            </a:r>
            <a:r>
              <a:rPr lang="en-US" sz="2000" dirty="0"/>
              <a:t> </a:t>
            </a:r>
            <a:r>
              <a:rPr lang="en-US" sz="2000" dirty="0" err="1"/>
              <a:t>configurazioni</a:t>
            </a:r>
            <a:r>
              <a:rPr lang="en-US" sz="2000" dirty="0"/>
              <a:t> </a:t>
            </a:r>
            <a:r>
              <a:rPr lang="en-US" sz="2000" dirty="0" err="1"/>
              <a:t>sono</a:t>
            </a:r>
            <a:r>
              <a:rPr lang="en-US" sz="2000" dirty="0"/>
              <a:t> </a:t>
            </a:r>
            <a:r>
              <a:rPr lang="en-US" sz="2000" dirty="0" err="1"/>
              <a:t>contenute</a:t>
            </a:r>
            <a:r>
              <a:rPr lang="en-US" sz="2000" dirty="0"/>
              <a:t>, ma il </a:t>
            </a:r>
            <a:r>
              <a:rPr lang="en-US" sz="2000" dirty="0" err="1"/>
              <a:t>modello</a:t>
            </a:r>
            <a:r>
              <a:rPr lang="en-US" sz="2000" dirty="0"/>
              <a:t> con </a:t>
            </a:r>
            <a:r>
              <a:rPr lang="en-US" sz="2000" b="1" dirty="0" err="1"/>
              <a:t>annotazioni</a:t>
            </a:r>
            <a:r>
              <a:rPr lang="en-US" sz="2000" b="1" dirty="0"/>
              <a:t> “fixed”</a:t>
            </a:r>
            <a:r>
              <a:rPr lang="en-US" sz="2000" dirty="0"/>
              <a:t> </a:t>
            </a:r>
            <a:r>
              <a:rPr lang="en-US" sz="2000" dirty="0" err="1"/>
              <a:t>mostra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b="1" dirty="0" err="1"/>
              <a:t>maggiore</a:t>
            </a:r>
            <a:r>
              <a:rPr lang="en-US" sz="2000" b="1" dirty="0"/>
              <a:t> </a:t>
            </a:r>
            <a:r>
              <a:rPr lang="en-US" sz="2000" b="1" dirty="0" err="1"/>
              <a:t>stabilità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L’</a:t>
            </a:r>
            <a:r>
              <a:rPr lang="en-US" sz="2000" b="1" dirty="0" err="1"/>
              <a:t>AP_box</a:t>
            </a:r>
            <a:r>
              <a:rPr lang="en-US" sz="2000" b="1" dirty="0"/>
              <a:t> &gt; </a:t>
            </a:r>
            <a:r>
              <a:rPr lang="en-US" sz="2000" b="1" dirty="0" err="1"/>
              <a:t>AP_mask</a:t>
            </a:r>
            <a:r>
              <a:rPr lang="en-US" sz="2000" dirty="0"/>
              <a:t>, </a:t>
            </a:r>
            <a:r>
              <a:rPr lang="en-US" sz="2000" dirty="0" err="1"/>
              <a:t>evidenzia</a:t>
            </a:r>
            <a:r>
              <a:rPr lang="en-US" sz="2000" dirty="0"/>
              <a:t> la </a:t>
            </a:r>
            <a:r>
              <a:rPr lang="en-US" sz="2000" b="1" dirty="0" err="1"/>
              <a:t>maggior</a:t>
            </a:r>
            <a:r>
              <a:rPr lang="en-US" sz="2000" b="1" dirty="0"/>
              <a:t> </a:t>
            </a:r>
            <a:r>
              <a:rPr lang="en-US" sz="2000" b="1" dirty="0" err="1"/>
              <a:t>difficoltà</a:t>
            </a:r>
            <a:r>
              <a:rPr lang="en-US" sz="2000" b="1" dirty="0"/>
              <a:t> </a:t>
            </a:r>
            <a:r>
              <a:rPr lang="en-US" sz="2000" b="1" dirty="0" err="1"/>
              <a:t>della</a:t>
            </a:r>
            <a:r>
              <a:rPr lang="en-US" sz="2000" b="1" dirty="0"/>
              <a:t> </a:t>
            </a:r>
            <a:r>
              <a:rPr lang="en-US" sz="2000" b="1" dirty="0" err="1"/>
              <a:t>segmentazione</a:t>
            </a:r>
            <a:r>
              <a:rPr lang="en-US" sz="2000" dirty="0"/>
              <a:t> rispetto </a:t>
            </a:r>
            <a:r>
              <a:rPr lang="en-US" sz="2000" dirty="0" err="1"/>
              <a:t>alla</a:t>
            </a:r>
            <a:r>
              <a:rPr lang="en-US" sz="2000" dirty="0"/>
              <a:t> detection.</a:t>
            </a:r>
          </a:p>
          <a:p>
            <a:r>
              <a:rPr lang="en-US" sz="2000" dirty="0"/>
              <a:t>I </a:t>
            </a:r>
            <a:r>
              <a:rPr lang="en-US" sz="2000" dirty="0" err="1"/>
              <a:t>risultati</a:t>
            </a:r>
            <a:r>
              <a:rPr lang="en-US" sz="2000" dirty="0"/>
              <a:t> </a:t>
            </a:r>
            <a:r>
              <a:rPr lang="en-US" sz="2000" dirty="0" err="1"/>
              <a:t>suggeriscono</a:t>
            </a:r>
            <a:r>
              <a:rPr lang="en-US" sz="2000" dirty="0"/>
              <a:t> </a:t>
            </a:r>
            <a:r>
              <a:rPr lang="en-US" sz="2000" dirty="0" err="1"/>
              <a:t>che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b="1" dirty="0" err="1"/>
              <a:t>limiti</a:t>
            </a:r>
            <a:r>
              <a:rPr lang="en-US" sz="2000" b="1" dirty="0"/>
              <a:t> </a:t>
            </a:r>
            <a:r>
              <a:rPr lang="en-US" sz="2000" b="1" dirty="0" err="1"/>
              <a:t>principali</a:t>
            </a:r>
            <a:r>
              <a:rPr lang="en-US" sz="2000" b="1" dirty="0"/>
              <a:t> </a:t>
            </a:r>
            <a:r>
              <a:rPr lang="en-US" sz="2000" b="1" dirty="0" err="1"/>
              <a:t>derivano</a:t>
            </a:r>
            <a:r>
              <a:rPr lang="en-US" sz="2000" b="1" dirty="0"/>
              <a:t> </a:t>
            </a:r>
            <a:r>
              <a:rPr lang="en-US" sz="2000" b="1" dirty="0" err="1"/>
              <a:t>dalla</a:t>
            </a:r>
            <a:r>
              <a:rPr lang="en-US" sz="2000" b="1" dirty="0"/>
              <a:t> </a:t>
            </a:r>
            <a:r>
              <a:rPr lang="en-US" sz="2000" b="1" dirty="0" err="1"/>
              <a:t>qualità</a:t>
            </a:r>
            <a:r>
              <a:rPr lang="en-US" sz="2000" b="1" dirty="0"/>
              <a:t> </a:t>
            </a:r>
            <a:r>
              <a:rPr lang="en-US" sz="2000" b="1" dirty="0" err="1"/>
              <a:t>delle</a:t>
            </a:r>
            <a:r>
              <a:rPr lang="en-US" sz="2000" b="1" dirty="0"/>
              <a:t> </a:t>
            </a:r>
            <a:r>
              <a:rPr lang="en-US" sz="2000" b="1" dirty="0" err="1"/>
              <a:t>annotazioni</a:t>
            </a:r>
            <a:r>
              <a:rPr lang="en-US" sz="2000" dirty="0"/>
              <a:t> </a:t>
            </a:r>
            <a:r>
              <a:rPr lang="en-US" sz="2000" dirty="0" err="1"/>
              <a:t>più</a:t>
            </a:r>
            <a:r>
              <a:rPr lang="en-US" sz="2000" dirty="0"/>
              <a:t> </a:t>
            </a:r>
            <a:r>
              <a:rPr lang="en-US" sz="2000" dirty="0" err="1"/>
              <a:t>che</a:t>
            </a:r>
            <a:r>
              <a:rPr lang="en-US" sz="2000" dirty="0"/>
              <a:t> </a:t>
            </a:r>
            <a:r>
              <a:rPr lang="en-US" sz="2000" dirty="0" err="1"/>
              <a:t>dall’architettura</a:t>
            </a:r>
            <a:endParaRPr lang="en-US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916DAD-59BD-B87D-5D05-675E5151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308C03-D2BC-0FC0-6470-C04E21ED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0D4370-8168-4FAD-8E8C-B4B7A059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15</a:t>
            </a:fld>
            <a:endParaRPr lang="it-IT"/>
          </a:p>
        </p:txBody>
      </p:sp>
      <p:pic>
        <p:nvPicPr>
          <p:cNvPr id="9" name="Immagine 8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4E193A90-9215-DB8A-42F3-36A61D027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33566"/>
            <a:ext cx="9453880" cy="19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4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64B46-059B-AAD0-1715-F8DBF142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05937-9F19-ADD9-C469-05721410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325563"/>
          </a:xfrm>
        </p:spPr>
        <p:txBody>
          <a:bodyPr>
            <a:normAutofit/>
          </a:bodyPr>
          <a:lstStyle/>
          <a:p>
            <a:r>
              <a:rPr lang="it-IT" sz="3800" dirty="0"/>
              <a:t>Visualizzazione dei risultati (1/2)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C01EF8-A7F2-29B6-E7DF-86A8FE93B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2640" cy="3270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File: </a:t>
            </a:r>
            <a:r>
              <a:rPr lang="en-US" sz="2000" b="1" i="1"/>
              <a:t>prediction.py</a:t>
            </a:r>
          </a:p>
          <a:p>
            <a:pPr marL="0" indent="0">
              <a:buNone/>
            </a:pPr>
            <a:endParaRPr lang="en-US" sz="2000" b="1" i="1"/>
          </a:p>
          <a:p>
            <a:r>
              <a:rPr lang="en-US" sz="2000"/>
              <a:t>Predizione su immagini nuove</a:t>
            </a:r>
          </a:p>
          <a:p>
            <a:r>
              <a:rPr lang="en-US" sz="2000"/>
              <a:t>Visualizzazione: Bounding Box, mask e label con score</a:t>
            </a:r>
          </a:p>
          <a:p>
            <a:r>
              <a:rPr lang="en-US" sz="2000"/>
              <a:t>Utilizzato per verifiche qualitative sui modelli</a:t>
            </a:r>
            <a:endParaRPr lang="en-US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D7EE4F-CAAA-E7C6-2A33-35E93721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296AA8-6A31-A7AD-3CE2-E8BE1684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26CF6F-93EC-DF55-070E-9098D9B6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16</a:t>
            </a:fld>
            <a:endParaRPr lang="it-IT"/>
          </a:p>
        </p:txBody>
      </p:sp>
      <p:pic>
        <p:nvPicPr>
          <p:cNvPr id="8" name="Immagine 7" descr="Immagine che contiene vestiti, persona, cielo, calzature&#10;&#10;Il contenuto generato dall'IA potrebbe non essere corretto.">
            <a:extLst>
              <a:ext uri="{FF2B5EF4-FFF2-40B4-BE49-F238E27FC236}">
                <a16:creationId xmlns:a16="http://schemas.microsoft.com/office/drawing/2014/main" id="{C42467EA-1CF9-B59A-233F-19619EDF9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747712"/>
            <a:ext cx="3052167" cy="542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01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E54A-EC5B-284C-711C-B68E769B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A0F383-3652-5373-BE18-44F9BA2F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325563"/>
          </a:xfrm>
        </p:spPr>
        <p:txBody>
          <a:bodyPr>
            <a:normAutofit/>
          </a:bodyPr>
          <a:lstStyle/>
          <a:p>
            <a:r>
              <a:rPr lang="it-IT" sz="3800" dirty="0"/>
              <a:t>Visualizzazione dei risultati (2/2)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77A00B-1BEB-EE52-8DE4-47BD77789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1B4AE6-EC11-47E7-6D4B-434225CF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AB5F2C-D497-E7A0-9D0D-C5225841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17</a:t>
            </a:fld>
            <a:endParaRPr lang="it-IT"/>
          </a:p>
        </p:txBody>
      </p:sp>
      <p:pic>
        <p:nvPicPr>
          <p:cNvPr id="11" name="Immagine 10" descr="Immagine che contiene vestiti, persona, calzature, testo&#10;&#10;Il contenuto generato dall'IA potrebbe non essere corretto.">
            <a:extLst>
              <a:ext uri="{FF2B5EF4-FFF2-40B4-BE49-F238E27FC236}">
                <a16:creationId xmlns:a16="http://schemas.microsoft.com/office/drawing/2014/main" id="{99E905E3-2E9D-23AE-E54B-23F58DD9A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773" y="898525"/>
            <a:ext cx="3070027" cy="5457825"/>
          </a:xfrm>
          <a:prstGeom prst="rect">
            <a:avLst/>
          </a:prstGeom>
        </p:spPr>
      </p:pic>
      <p:pic>
        <p:nvPicPr>
          <p:cNvPr id="13" name="Immagine 12" descr="Immagine che contiene aria aperta, erba, cielo, albero&#10;&#10;Il contenuto generato dall'IA potrebbe non essere corretto.">
            <a:extLst>
              <a:ext uri="{FF2B5EF4-FFF2-40B4-BE49-F238E27FC236}">
                <a16:creationId xmlns:a16="http://schemas.microsoft.com/office/drawing/2014/main" id="{28AF67F7-31EA-8E9C-F953-C316AFB66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12887"/>
            <a:ext cx="6457950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83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1E81-423F-D1D1-E81D-329C3098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73B2AC-F2BE-7DCC-28BD-D6FC5B7F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 e sviluppi futuri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4A3837-5358-C336-1A2D-02A5F2FF1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124"/>
            <a:ext cx="10515600" cy="5111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err="1"/>
              <a:t>Riepilogo</a:t>
            </a:r>
            <a:r>
              <a:rPr lang="en-US" sz="2000" u="sng" dirty="0"/>
              <a:t> del Lavoro </a:t>
            </a:r>
            <a:r>
              <a:rPr lang="en-US" sz="2000" u="sng" dirty="0" err="1"/>
              <a:t>svolto</a:t>
            </a:r>
            <a:r>
              <a:rPr lang="en-US" sz="2000" u="sng" dirty="0"/>
              <a:t>:</a:t>
            </a:r>
          </a:p>
          <a:p>
            <a:r>
              <a:rPr lang="en-US" sz="2000" dirty="0" err="1"/>
              <a:t>Implementata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b="1" dirty="0"/>
              <a:t>pipeline </a:t>
            </a:r>
            <a:r>
              <a:rPr lang="en-US" sz="2000" b="1" dirty="0" err="1"/>
              <a:t>completa</a:t>
            </a:r>
            <a:r>
              <a:rPr lang="en-US" sz="2000" dirty="0"/>
              <a:t> di object detection e Instance Segmentation </a:t>
            </a:r>
            <a:r>
              <a:rPr lang="en-US" sz="2000" dirty="0" err="1"/>
              <a:t>basata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b="1" dirty="0"/>
              <a:t>Mask R-CNN(ResNet-50 + FPN).</a:t>
            </a:r>
          </a:p>
          <a:p>
            <a:r>
              <a:rPr lang="en-US" sz="2000" dirty="0" err="1"/>
              <a:t>Creato</a:t>
            </a:r>
            <a:r>
              <a:rPr lang="en-US" sz="2000" dirty="0"/>
              <a:t> un </a:t>
            </a:r>
            <a:r>
              <a:rPr lang="en-US" sz="2000" b="1" dirty="0"/>
              <a:t>Custom Loader COCO-like</a:t>
            </a:r>
            <a:r>
              <a:rPr lang="en-US" sz="2000" dirty="0"/>
              <a:t> con data augmentation e </a:t>
            </a:r>
            <a:r>
              <a:rPr lang="en-US" sz="2000" dirty="0" err="1"/>
              <a:t>gestione</a:t>
            </a:r>
            <a:r>
              <a:rPr lang="en-US" sz="2000" dirty="0"/>
              <a:t> batch.</a:t>
            </a:r>
          </a:p>
          <a:p>
            <a:r>
              <a:rPr lang="en-US" sz="2000" dirty="0" err="1"/>
              <a:t>Sviluppato</a:t>
            </a:r>
            <a:r>
              <a:rPr lang="en-US" sz="2000" dirty="0"/>
              <a:t> un </a:t>
            </a:r>
            <a:r>
              <a:rPr lang="en-US" sz="2000" b="1" dirty="0" err="1"/>
              <a:t>modello</a:t>
            </a:r>
            <a:r>
              <a:rPr lang="en-US" sz="2000" b="1" dirty="0"/>
              <a:t> </a:t>
            </a:r>
            <a:r>
              <a:rPr lang="en-US" sz="2000" b="1" dirty="0" err="1"/>
              <a:t>personalizzato</a:t>
            </a:r>
            <a:r>
              <a:rPr lang="en-US" sz="2000" dirty="0"/>
              <a:t> per box e </a:t>
            </a:r>
            <a:r>
              <a:rPr lang="en-US" sz="2000" dirty="0" err="1"/>
              <a:t>maschere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Effettuata</a:t>
            </a:r>
            <a:r>
              <a:rPr lang="en-US" sz="2000" dirty="0"/>
              <a:t> la </a:t>
            </a:r>
            <a:r>
              <a:rPr lang="en-US" sz="2000" b="1" dirty="0" err="1"/>
              <a:t>correzione</a:t>
            </a:r>
            <a:r>
              <a:rPr lang="en-US" sz="2000" b="1" dirty="0"/>
              <a:t> </a:t>
            </a:r>
            <a:r>
              <a:rPr lang="en-US" sz="2000" b="1" dirty="0" err="1"/>
              <a:t>automatica</a:t>
            </a:r>
            <a:r>
              <a:rPr lang="en-US" sz="2000" b="1" dirty="0"/>
              <a:t> </a:t>
            </a:r>
            <a:r>
              <a:rPr lang="en-US" sz="2000" b="1" dirty="0" err="1"/>
              <a:t>delle</a:t>
            </a:r>
            <a:r>
              <a:rPr lang="en-US" sz="2000" b="1" dirty="0"/>
              <a:t> </a:t>
            </a:r>
            <a:r>
              <a:rPr lang="en-US" sz="2000" b="1" dirty="0" err="1"/>
              <a:t>annotazioni</a:t>
            </a:r>
            <a:r>
              <a:rPr lang="en-US" sz="2000" dirty="0"/>
              <a:t> e </a:t>
            </a:r>
            <a:r>
              <a:rPr lang="en-US" sz="2000" dirty="0" err="1"/>
              <a:t>confronto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dataset </a:t>
            </a:r>
            <a:r>
              <a:rPr lang="en-US" sz="2000" dirty="0" err="1"/>
              <a:t>originale</a:t>
            </a:r>
            <a:r>
              <a:rPr lang="en-US" sz="2000" dirty="0"/>
              <a:t> e “fixed”.</a:t>
            </a:r>
          </a:p>
          <a:p>
            <a:r>
              <a:rPr lang="en-US" sz="2000" dirty="0" err="1"/>
              <a:t>Esecuzione</a:t>
            </a:r>
            <a:r>
              <a:rPr lang="en-US" sz="2000" dirty="0"/>
              <a:t> </a:t>
            </a:r>
            <a:r>
              <a:rPr lang="en-US" sz="2000" b="1" dirty="0"/>
              <a:t>train e </a:t>
            </a:r>
            <a:r>
              <a:rPr lang="en-US" sz="2000" b="1" dirty="0" err="1"/>
              <a:t>val</a:t>
            </a:r>
            <a:r>
              <a:rPr lang="en-US" sz="2000" b="1" dirty="0"/>
              <a:t> </a:t>
            </a:r>
            <a:r>
              <a:rPr lang="en-US" sz="2000" b="1" dirty="0" err="1"/>
              <a:t>su</a:t>
            </a:r>
            <a:r>
              <a:rPr lang="en-US" sz="2000" b="1" dirty="0"/>
              <a:t> HPC</a:t>
            </a:r>
            <a:r>
              <a:rPr lang="en-US" sz="2000" dirty="0"/>
              <a:t>, con checkpoint e </a:t>
            </a:r>
            <a:r>
              <a:rPr lang="en-US" sz="2000" dirty="0" err="1"/>
              <a:t>analisi</a:t>
            </a:r>
            <a:r>
              <a:rPr lang="en-US" sz="2000" dirty="0"/>
              <a:t> </a:t>
            </a:r>
            <a:r>
              <a:rPr lang="en-US" sz="2000" dirty="0" err="1"/>
              <a:t>dei</a:t>
            </a:r>
            <a:r>
              <a:rPr lang="en-US" sz="2000" dirty="0"/>
              <a:t> </a:t>
            </a:r>
            <a:r>
              <a:rPr lang="en-US" sz="2000" dirty="0" err="1"/>
              <a:t>risultati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u="sng" dirty="0" err="1"/>
              <a:t>Sviluppi</a:t>
            </a:r>
            <a:r>
              <a:rPr lang="en-US" sz="2000" u="sng" dirty="0"/>
              <a:t> </a:t>
            </a:r>
            <a:r>
              <a:rPr lang="en-US" sz="2000" u="sng" dirty="0" err="1"/>
              <a:t>futuri</a:t>
            </a:r>
            <a:endParaRPr lang="en-US" sz="2000" u="sng" dirty="0"/>
          </a:p>
          <a:p>
            <a:r>
              <a:rPr lang="en-US" sz="2000" b="1" dirty="0"/>
              <a:t>Backbone </a:t>
            </a:r>
            <a:r>
              <a:rPr lang="en-US" sz="2000" b="1" dirty="0" err="1"/>
              <a:t>più</a:t>
            </a:r>
            <a:r>
              <a:rPr lang="en-US" sz="2000" b="1" dirty="0"/>
              <a:t> </a:t>
            </a:r>
            <a:r>
              <a:rPr lang="en-US" sz="2000" b="1" dirty="0" err="1"/>
              <a:t>profondi</a:t>
            </a:r>
            <a:r>
              <a:rPr lang="en-US" sz="2000" dirty="0"/>
              <a:t> (ResNet-101, Swin Transformer).</a:t>
            </a:r>
          </a:p>
          <a:p>
            <a:r>
              <a:rPr lang="en-US" sz="2000" b="1" dirty="0"/>
              <a:t>Data augmentation </a:t>
            </a:r>
            <a:r>
              <a:rPr lang="en-US" sz="2000" b="1" dirty="0" err="1"/>
              <a:t>più</a:t>
            </a:r>
            <a:r>
              <a:rPr lang="en-US" sz="2000" b="1" dirty="0"/>
              <a:t> varia.</a:t>
            </a:r>
          </a:p>
          <a:p>
            <a:r>
              <a:rPr lang="en-US" sz="2000" dirty="0" err="1"/>
              <a:t>Tecniche</a:t>
            </a:r>
            <a:r>
              <a:rPr lang="en-US" sz="2000" dirty="0"/>
              <a:t> di </a:t>
            </a:r>
            <a:r>
              <a:rPr lang="en-US" sz="2000" b="1" dirty="0"/>
              <a:t>fine-tuning</a:t>
            </a:r>
            <a:r>
              <a:rPr lang="en-US" sz="2000" dirty="0"/>
              <a:t> </a:t>
            </a:r>
            <a:r>
              <a:rPr lang="en-US" sz="2000" dirty="0" err="1"/>
              <a:t>avanzate</a:t>
            </a:r>
            <a:r>
              <a:rPr lang="en-US" sz="2000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33AF5CB-0397-F73D-DA3A-D6C64EC6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1BB5-E5D6-4816-8D90-BB648ABCEC83}" type="datetime1">
              <a:rPr lang="it-IT" smtClean="0"/>
              <a:t>30/10/2025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ADBE1B-A71E-F3BC-0DAB-43B37C9C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Parma - DLAGM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3A5339-059F-C9E1-B745-634B9D95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FD5B-77DF-497D-B1E1-D726720F45FE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1478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3699D-2248-1F1E-AFE8-31D5023F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C96FE7-11AA-C92F-D07F-C17F7CB0B2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Thank </a:t>
            </a:r>
            <a:r>
              <a:rPr lang="it-IT" dirty="0" err="1"/>
              <a:t>you</a:t>
            </a:r>
            <a:r>
              <a:rPr lang="it-IT" dirty="0"/>
              <a:t> for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attention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2834C39-70F3-3612-9C60-787AB9805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Antonio Signorelli matr.355765</a:t>
            </a:r>
          </a:p>
        </p:txBody>
      </p:sp>
    </p:spTree>
    <p:extLst>
      <p:ext uri="{BB962C8B-B14F-4D97-AF65-F5344CB8AC3E}">
        <p14:creationId xmlns:p14="http://schemas.microsoft.com/office/powerpoint/2010/main" val="2158809293"/>
      </p:ext>
    </p:extLst>
  </p:cSld>
  <p:clrMapOvr>
    <a:masterClrMapping/>
  </p:clrMapOvr>
</p:sld>
</file>

<file path=ppt/theme/theme1.xml><?xml version="1.0" encoding="utf-8"?>
<a:theme xmlns:a="http://schemas.openxmlformats.org/drawingml/2006/main" name="imp_lab_mini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zato 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_lab_minimal" id="{C1176030-00A4-4329-9489-EA2206E3A22A}" vid="{DF410215-F97D-43D0-9924-13800450E17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imp_lab_minimal</Template>
  <TotalTime>0</TotalTime>
  <Words>890</Words>
  <Application>Microsoft Office PowerPoint</Application>
  <PresentationFormat>Widescreen</PresentationFormat>
  <Paragraphs>144</Paragraphs>
  <Slides>19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Arial</vt:lpstr>
      <vt:lpstr>Calibri</vt:lpstr>
      <vt:lpstr>Lato</vt:lpstr>
      <vt:lpstr>Lato Black</vt:lpstr>
      <vt:lpstr>imp_lab_minimal</vt:lpstr>
      <vt:lpstr>Object Detection and Instance Segmentation on ModaNet dataset</vt:lpstr>
      <vt:lpstr>Obiettivi del progetto</vt:lpstr>
      <vt:lpstr>Il dataset ModaNet</vt:lpstr>
      <vt:lpstr>Presentazione standard di PowerPoint</vt:lpstr>
      <vt:lpstr>Correzione e validazione del dataset</vt:lpstr>
      <vt:lpstr>Correzione e validazione delle annotazioni</vt:lpstr>
      <vt:lpstr>Correzione e validazione delle annotazioni</vt:lpstr>
      <vt:lpstr>Custom Dataset Loader</vt:lpstr>
      <vt:lpstr>Architettura del modello</vt:lpstr>
      <vt:lpstr>Training Pipeline</vt:lpstr>
      <vt:lpstr>Ablation Study e Re-training (1/2)</vt:lpstr>
      <vt:lpstr>Ablation Study e Re-training (2/2)</vt:lpstr>
      <vt:lpstr>Valutazione e Metriche (1/2)</vt:lpstr>
      <vt:lpstr>Valutazione e Metriche (2/2)</vt:lpstr>
      <vt:lpstr>Analisi dei Risultati</vt:lpstr>
      <vt:lpstr>Visualizzazione dei risultati (1/2)</vt:lpstr>
      <vt:lpstr>Visualizzazione dei risultati (2/2)</vt:lpstr>
      <vt:lpstr>Conclusioni e sviluppi futuri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&lt;Paper&gt; Presentation</dc:title>
  <dc:creator>Tomaso FONTANINI</dc:creator>
  <cp:lastModifiedBy>Antonio Signorelli</cp:lastModifiedBy>
  <cp:revision>17</cp:revision>
  <dcterms:created xsi:type="dcterms:W3CDTF">2022-11-29T16:18:09Z</dcterms:created>
  <dcterms:modified xsi:type="dcterms:W3CDTF">2025-10-30T15:33:10Z</dcterms:modified>
</cp:coreProperties>
</file>